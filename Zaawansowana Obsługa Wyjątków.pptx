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embeddedFontLst>
    <p:embeddedFont>
      <p:font typeface="Urbanist" panose="020B0604020202020204" charset="-18"/>
      <p:regular r:id="rId24"/>
      <p:bold r:id="rId25"/>
      <p:italic r:id="rId26"/>
      <p:boldItalic r:id="rId27"/>
    </p:embeddedFont>
    <p:embeddedFont>
      <p:font typeface="Urbanist Medium" panose="020B0604020202020204" charset="-18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3706E9-D685-4493-9848-76D80D8C542C}">
  <a:tblStyle styleId="{DE3706E9-D685-4493-9848-76D80D8C54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2ff5b129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e2ff5b129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2ff5b129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e2ff5b129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2ff5b129d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e2ff5b129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2ff5b129d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e2ff5b129d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2ff5b129d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e2ff5b129d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2ff5b129d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e2ff5b129d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2ff5b129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e2ff5b129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97B2AB92-C03F-C8F0-0DC5-585010DD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2DD56CD4-68E1-B6B2-E018-D839F895B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53468823-250F-8AD6-C02D-4E32275ED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1688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86676A6F-E35F-FD6A-1DD0-AF15C5627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8B19212B-7626-DFDF-AC0C-1FC93E03F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66A02FE5-8AC3-F5B6-0780-29756B8E8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1062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E7167698-CC15-208A-6C8D-4169EDB6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A44782EE-4301-8745-B2A5-6AED78482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BF996C20-9296-DDDB-0018-7489C76D1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9534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03816A53-8FCA-0D4E-3C3C-0E190D50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CCA70F9C-55CF-F7AF-3B88-0EFCC0F26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412F98C0-8383-6CBD-E7AE-C87E662E5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975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5FCAD90A-324B-7101-BF74-64B2FB78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01C407DC-5025-240D-0AAF-9CA4F3D02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40A91377-B753-090B-D9CB-E6B724030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220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B67F1E61-2B01-1A06-2A62-5D18D729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ff5b129d_1_29:notes">
            <a:extLst>
              <a:ext uri="{FF2B5EF4-FFF2-40B4-BE49-F238E27FC236}">
                <a16:creationId xmlns:a16="http://schemas.microsoft.com/office/drawing/2014/main" id="{2A76E023-C87C-47E1-08D4-B21FAED9B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2ff5b129d_1_29:notes">
            <a:extLst>
              <a:ext uri="{FF2B5EF4-FFF2-40B4-BE49-F238E27FC236}">
                <a16:creationId xmlns:a16="http://schemas.microsoft.com/office/drawing/2014/main" id="{A7FCDD40-DFE7-38B8-6510-99B80F45A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50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contextlib.html" TargetMode="External"/><Relationship Id="rId3" Type="http://schemas.openxmlformats.org/officeDocument/2006/relationships/hyperlink" Target="https://docs.python.org/3/tutorial/errors.html" TargetMode="External"/><Relationship Id="rId7" Type="http://schemas.openxmlformats.org/officeDocument/2006/relationships/hyperlink" Target="https://docs.python.org/3/library/exceptions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python/with-statement-in-python/" TargetMode="External"/><Relationship Id="rId5" Type="http://schemas.openxmlformats.org/officeDocument/2006/relationships/hyperlink" Target="https://www.geeksforgeeks.org/python/python-debugger-python-pdb/" TargetMode="External"/><Relationship Id="rId10" Type="http://schemas.openxmlformats.org/officeDocument/2006/relationships/hyperlink" Target="https://www.geeksforgeeks.org/python/exception-groups-in-python/" TargetMode="External"/><Relationship Id="rId4" Type="http://schemas.openxmlformats.org/officeDocument/2006/relationships/hyperlink" Target="https://docs.python.org/3/library/traceback.html" TargetMode="External"/><Relationship Id="rId9" Type="http://schemas.openxmlformats.org/officeDocument/2006/relationships/hyperlink" Target="https://realpython.com/python-excep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925" y="-574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33600"/>
            <a:ext cx="11601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Zaawansowana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Obsługa</a:t>
            </a: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Wyjątków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oraz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lang="en-US" sz="60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ebugowani</a:t>
            </a:r>
            <a:r>
              <a:rPr lang="en-US" sz="600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593838A-7C24-55EF-1EB8-5463F429F467}"/>
              </a:ext>
            </a:extLst>
          </p:cNvPr>
          <p:cNvSpPr txBox="1"/>
          <p:nvPr/>
        </p:nvSpPr>
        <p:spPr>
          <a:xfrm>
            <a:off x="3163824" y="4498848"/>
            <a:ext cx="80650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5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Autorzy: Piotr Kolenda, Piotr Kurbiel</a:t>
            </a:r>
            <a:endParaRPr lang="pl-PL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00262"/>
            <a:ext cx="53340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229076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Zrozumienie drzewa genealogicznego wyjątków jest kluczowe dla ich poprawnej obsługi: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5053012"/>
            <a:ext cx="5334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Zasada: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Łapiemy Exception, aby nie blokować sygnałów systemowych (np. Ctrl+C).</a:t>
            </a:r>
            <a:endParaRPr/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09787"/>
            <a:ext cx="5314950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52500" y="30527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BaseException: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Klasa bazowa dla wszystkich błędów.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5290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Exception: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Główny rodzic błędów aplikacji (nie łap BaseException!).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2910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SystemExit / KeyboardInterrupt: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Specjalne wyjątki kontrolujące stan programu.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957512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433762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195762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Hierarchia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Klas</a:t>
            </a: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Wyjątków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5100"/>
            <a:ext cx="35559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05100"/>
            <a:ext cx="35559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05100"/>
            <a:ext cx="355609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57250" y="3990975"/>
            <a:ext cx="303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SystemExit: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Zamyka program (sys.exit).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4371975"/>
            <a:ext cx="3032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KeyboardInterrupt: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Przerwanie przez Ctrl+C.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03700" y="3990975"/>
            <a:ext cx="3032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ValueError: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Dobry typ, zła wartość (np. int("abc")).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03700" y="4600575"/>
            <a:ext cx="303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TypeError: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Niedozwolona operacja na typie.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350150" y="3990975"/>
            <a:ext cx="30322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NameError: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Zmienna nie istnieje.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0150" y="4371975"/>
            <a:ext cx="30322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AttributeError: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Obiekt nie ma takiej metody.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1075" y="30670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1812" y="30670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73975" y="30670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Wyjątki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Systemowe</a:t>
            </a: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 Danych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7250" y="3562350"/>
            <a:ext cx="318367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 &amp; User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03700" y="3562350"/>
            <a:ext cx="318367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Błędy Danych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50150" y="3562350"/>
            <a:ext cx="318383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Referencje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8900"/>
            <a:ext cx="5334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28900"/>
            <a:ext cx="5334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57250" y="3295650"/>
            <a:ext cx="4810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IndexError: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Indeks listy poza zakresem.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3676650"/>
            <a:ext cx="4810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KeyError: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Brak klucza w słowniku.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3295650"/>
            <a:ext cx="4810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ZeroDivisionError: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Dzielenie przez 0.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3676650"/>
            <a:ext cx="4810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OverflowError: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Wynik zbyt duży dla float.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72250" y="4057650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FloatingPointError:</a:t>
            </a: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Rzadki w czystym Pythonie, częsty w NumPy (błędy precyzji).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Struktury i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Matematyka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2867025"/>
            <a:ext cx="505063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Kolekcje (LookupError)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72250" y="2867025"/>
            <a:ext cx="505063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ArithmeticError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17"/>
          <p:cNvGraphicFramePr/>
          <p:nvPr/>
        </p:nvGraphicFramePr>
        <p:xfrm>
          <a:off x="571500" y="2747962"/>
          <a:ext cx="5738800" cy="2428875"/>
        </p:xfrm>
        <a:graphic>
          <a:graphicData uri="http://schemas.openxmlformats.org/drawingml/2006/table">
            <a:tbl>
              <a:tblPr firstRow="1" bandRow="1">
                <a:noFill/>
                <a:tableStyleId>{DE3706E9-D685-4493-9848-76D80D8C542C}</a:tableStyleId>
              </a:tblPr>
              <a:tblGrid>
                <a:gridCol w="8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Funkcja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Przykład Zastosowania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Strefa ryzyka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Otwarcie pliku lub zapytanie do bazy danych.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except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Koło ratunkowe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Logowanie błędu i akcja naprawcza.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Nagroda za sukces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Przetwarzanie danych, jeśli try się powiódł.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Sprzątacz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Zamykanie połączeń (wykonuje się ZAWSZE).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7" name="Google Shape;147;p17"/>
          <p:cNvSpPr/>
          <p:nvPr/>
        </p:nvSpPr>
        <p:spPr>
          <a:xfrm>
            <a:off x="571500" y="3205162"/>
            <a:ext cx="83343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404937" y="3205162"/>
            <a:ext cx="154305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947987" y="3205162"/>
            <a:ext cx="336232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3705225"/>
            <a:ext cx="833437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404937" y="3705225"/>
            <a:ext cx="1543050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947987" y="3705225"/>
            <a:ext cx="3362325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1500" y="4191000"/>
            <a:ext cx="833437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404937" y="4191000"/>
            <a:ext cx="1543050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947987" y="4191000"/>
            <a:ext cx="3362325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4676775"/>
            <a:ext cx="833437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404937" y="4676775"/>
            <a:ext cx="1543050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947987" y="4676775"/>
            <a:ext cx="3362325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5162550"/>
            <a:ext cx="833437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404937" y="5162550"/>
            <a:ext cx="1543050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947987" y="5162550"/>
            <a:ext cx="3362325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Cykl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Życia</a:t>
            </a: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Wyjątku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250" y="647700"/>
            <a:ext cx="5280850" cy="27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2238" y="3913788"/>
            <a:ext cx="49244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52500" y="2852737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Minimalizm try: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Blok try powinien być jak najkrótszy (najlepiej jedna linia).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2500" y="333851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Precyzja: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Chroń kod przed jednym konkretnym błędem zamiast łapać "wszystko".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2500" y="3814762"/>
            <a:ext cx="10668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Ostatnia deska ratunku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Używaj except Exception tylko na najwyższym poziomie aplikacji, by zapobiec całkowitemu wysypaniu się systemu.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52500" y="4586287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Własne logowanie: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Nigdy nie wyciszaj błędu (pusty pass) bez jego uprzedniego zalogowania.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2757487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3243262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3719512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4491037"/>
            <a:ext cx="66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Zasady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Clean Code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2315900"/>
            <a:ext cx="5172600" cy="2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Blok "Czarna Dziura":</a:t>
            </a: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Instrukcja </a:t>
            </a:r>
            <a:r>
              <a:rPr lang="en-US" sz="150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wewnątrz </a:t>
            </a:r>
            <a:r>
              <a:rPr lang="en-US" sz="150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nadpisuje i "połyka" każdą inną wartość lub błąd.</a:t>
            </a:r>
            <a:endParaRPr sz="150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Błędy z bloku </a:t>
            </a:r>
            <a:r>
              <a:rPr lang="en-US" sz="150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po prostu znikają, co uniemożliwia debugowanie.</a:t>
            </a:r>
            <a:endParaRPr sz="150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500" b="1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57150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45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Pułapka </a:t>
            </a:r>
            <a:r>
              <a:rPr lang="en-US" sz="4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"Return w Finally"</a:t>
            </a:r>
            <a:endParaRPr sz="45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3750" y="526250"/>
            <a:ext cx="4934125" cy="587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/>
        </p:nvSpPr>
        <p:spPr>
          <a:xfrm>
            <a:off x="823825" y="5571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45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Menedżery </a:t>
            </a:r>
            <a:r>
              <a:rPr lang="en-US" sz="4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Kontekstu - Context </a:t>
            </a:r>
            <a:r>
              <a:rPr lang="en-US" sz="4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Manager</a:t>
            </a:r>
            <a:endParaRPr sz="4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25" y="1422957"/>
            <a:ext cx="10544375" cy="29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65E5262A-F82D-CF72-B5C1-9AA13C2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076" y="4626151"/>
            <a:ext cx="3381847" cy="1162212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89C189A0-A771-BCD4-BB07-053AA413C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06" y="4626151"/>
            <a:ext cx="3172268" cy="1162212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03862FC9-84C5-4900-FB11-5DD80D770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024" y="4626151"/>
            <a:ext cx="3119227" cy="1162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724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4035000"/>
            <a:ext cx="663892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57200" y="4401625"/>
            <a:ext cx="3691200" cy="16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Generowanie </a:t>
            </a:r>
            <a:endParaRPr sz="45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537600" y="961475"/>
            <a:ext cx="2825700" cy="16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Podejście </a:t>
            </a:r>
            <a:r>
              <a:rPr lang="en-US" sz="4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Klasyczne </a:t>
            </a:r>
            <a:endParaRPr sz="45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823825" y="5571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45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Łańcuchowanie </a:t>
            </a:r>
            <a:r>
              <a:rPr lang="en-US" sz="4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Błędów - </a:t>
            </a:r>
            <a:r>
              <a:rPr lang="en-US" sz="4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Chaining </a:t>
            </a:r>
            <a:endParaRPr sz="4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00" y="2575500"/>
            <a:ext cx="10559800" cy="26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43675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48075"/>
            <a:ext cx="7857327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476050" y="905125"/>
            <a:ext cx="4066500" cy="20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Jawne </a:t>
            </a:r>
            <a:r>
              <a:rPr lang="en-US" sz="450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Łańcuchowanie</a:t>
            </a:r>
            <a:endParaRPr sz="4500">
              <a:solidFill>
                <a:srgbClr val="DEFF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50" y="152400"/>
            <a:ext cx="7900760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8477000" y="1759775"/>
            <a:ext cx="4066500" cy="20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Niejawne </a:t>
            </a:r>
            <a:r>
              <a:rPr lang="en-US" sz="450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Łańcuchowanie</a:t>
            </a:r>
            <a:endParaRPr sz="4500">
              <a:solidFill>
                <a:srgbClr val="DEFF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00" y="1071563"/>
            <a:ext cx="83629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8061975" y="1732200"/>
            <a:ext cx="4066500" cy="20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Ukryte </a:t>
            </a:r>
            <a:r>
              <a:rPr lang="en-US" sz="420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Łańcuchowanie</a:t>
            </a:r>
            <a:endParaRPr sz="4200">
              <a:solidFill>
                <a:srgbClr val="DEFF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/>
        </p:nvSpPr>
        <p:spPr>
          <a:xfrm>
            <a:off x="823825" y="5571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4500">
                <a:solidFill>
                  <a:srgbClr val="F5F5F5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Grupy </a:t>
            </a:r>
            <a:r>
              <a:rPr lang="en-US" sz="4500">
                <a:solidFill>
                  <a:srgbClr val="DEFF9A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Wyjątków</a:t>
            </a:r>
            <a:endParaRPr sz="45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823825" y="2366425"/>
            <a:ext cx="4983600" cy="1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Rewolucja w Pythonie 3.11: </a:t>
            </a:r>
            <a:r>
              <a:rPr lang="en-US" sz="1500">
                <a:solidFill>
                  <a:srgbClr val="DEFF9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ExceptionGroup</a:t>
            </a: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pozwala rzucić paczkę niezależnych błędów jednocześnie.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Kluczowe w programowaniu asynchronicznym.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4200" y="557150"/>
            <a:ext cx="4396590" cy="53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75" y="3928825"/>
            <a:ext cx="611505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/>
        </p:nvSpPr>
        <p:spPr>
          <a:xfrm>
            <a:off x="823825" y="557150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4500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Definiowanie</a:t>
            </a:r>
            <a:r>
              <a:rPr lang="en-US" sz="450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5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Własnych</a:t>
            </a:r>
            <a:r>
              <a:rPr lang="en-US" sz="450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500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Wyjątków</a:t>
            </a:r>
            <a:endParaRPr sz="4500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Twórz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wyjątki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szyte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miarę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dla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logiki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biznesowej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Twojej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aplikacji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DAFFDE"/>
              </a:buClr>
              <a:buSzPts val="1500"/>
              <a:buChar char="●"/>
            </a:pP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Dziedziczenie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po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klasie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Char char="●"/>
            </a:pP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Możliwość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dodania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__</a:t>
            </a:r>
            <a:r>
              <a:rPr lang="en-US" sz="1500" dirty="0" err="1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r>
              <a:rPr lang="en-US" sz="1500" dirty="0">
                <a:solidFill>
                  <a:srgbClr val="DEFF9A"/>
                </a:solidFill>
                <a:highlight>
                  <a:srgbClr val="323232"/>
                </a:highlight>
                <a:latin typeface="Courier New"/>
                <a:ea typeface="Courier New"/>
                <a:cs typeface="Courier New"/>
                <a:sym typeface="Courier New"/>
              </a:rPr>
              <a:t>__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do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przechowywania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IP, ID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użytkownika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itp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Drastyczne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ułatwienie</a:t>
            </a: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debugowania</a:t>
            </a:r>
            <a:endParaRPr sz="15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875" y="1457425"/>
            <a:ext cx="5657300" cy="46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8D5121C3-1CDB-51F4-B56E-C598FD46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76CE64DB-E218-3856-F0D0-D5D53B1C4FC1}"/>
              </a:ext>
            </a:extLst>
          </p:cNvPr>
          <p:cNvSpPr txBox="1"/>
          <p:nvPr/>
        </p:nvSpPr>
        <p:spPr>
          <a:xfrm>
            <a:off x="823825" y="557150"/>
            <a:ext cx="11601600" cy="1181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3000"/>
              </a:spcAft>
              <a:buSzPts val="1100"/>
            </a:pPr>
            <a:r>
              <a:rPr lang="pl-PL" sz="450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Debugging - </a:t>
            </a:r>
            <a:r>
              <a:rPr lang="pl-PL" sz="450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Tracebacks</a:t>
            </a:r>
            <a:endParaRPr sz="4500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F6A60D63-F409-2933-2521-AC00AFA6F74C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1486678-9C09-E14B-834A-19805FF6EF38}"/>
              </a:ext>
            </a:extLst>
          </p:cNvPr>
          <p:cNvSpPr txBox="1"/>
          <p:nvPr/>
        </p:nvSpPr>
        <p:spPr>
          <a:xfrm>
            <a:off x="7998370" y="1738243"/>
            <a:ext cx="33698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Każdy wyjątek posiada klasę, instancję, oraz tzw. </a:t>
            </a:r>
            <a:r>
              <a:rPr lang="pl-PL" sz="1800" b="1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:</a:t>
            </a:r>
          </a:p>
          <a:p>
            <a:endParaRPr lang="pl-PL" sz="18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285750" indent="-285750"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Traceback.print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– Wypisuje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</a:t>
            </a:r>
            <a:endParaRPr lang="pl-PL" sz="18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285750" indent="-285750"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Traceback.format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– Zapisuje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do formatu string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endParaRPr lang="pl-PL" sz="1800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Można zapisać lub wypisać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exc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() czyli drzewko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wywołań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wyjątku, lub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stack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(), czyli drzewo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wywołań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nawet BEZ błędu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endParaRPr lang="pl-PL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br>
              <a:rPr lang="pl-PL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</a:br>
            <a:br>
              <a:rPr lang="pl-PL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</a:br>
            <a:endParaRPr lang="pl-PL" dirty="0"/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DDFB8025-20AD-0D46-76BA-31D56B2B4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" y="1697367"/>
            <a:ext cx="7190568" cy="43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6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31F65244-C860-53AE-FBDE-2D8729C0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799F4E71-007A-A3CC-ADE7-4A0851EC3FDD}"/>
              </a:ext>
            </a:extLst>
          </p:cNvPr>
          <p:cNvSpPr txBox="1"/>
          <p:nvPr/>
        </p:nvSpPr>
        <p:spPr>
          <a:xfrm>
            <a:off x="823825" y="557150"/>
            <a:ext cx="11601600" cy="1181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3000"/>
              </a:spcAft>
              <a:buSzPts val="1100"/>
            </a:pPr>
            <a:r>
              <a:rPr lang="pl-PL" sz="450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Debugging - </a:t>
            </a:r>
            <a:r>
              <a:rPr lang="pl-PL" sz="450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Tracebacks</a:t>
            </a:r>
            <a:endParaRPr sz="4500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0CF555B5-EF7E-68CA-9533-3C22930164A4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FBE1B48-13FA-8FA5-B2B5-304B656B67E1}"/>
              </a:ext>
            </a:extLst>
          </p:cNvPr>
          <p:cNvSpPr txBox="1"/>
          <p:nvPr/>
        </p:nvSpPr>
        <p:spPr>
          <a:xfrm>
            <a:off x="3959012" y="1398841"/>
            <a:ext cx="82329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traceback.extract_tb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tb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) – wyodrębnia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pojędyńcze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elementy które doprowadziły do błędu</a:t>
            </a:r>
            <a:b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Wynik kodu: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[&lt;</a:t>
            </a:r>
            <a:r>
              <a:rPr lang="pl-PL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FrameSummary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file C:\Users\kerit\Desktop\ZaawansowanaObslugaWyjatkowiDebugging\Traceback.py, </a:t>
            </a:r>
            <a:r>
              <a:rPr lang="pl-PL" sz="16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line</a:t>
            </a:r>
            <a:r>
              <a:rPr lang="pl-P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10</a:t>
            </a:r>
            <a:r>
              <a:rPr lang="pl-PL" sz="16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&lt;module&gt;&gt;,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&lt;</a:t>
            </a:r>
            <a:r>
              <a:rPr lang="pl-PL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FrameSummary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file C:\Users\kerit\Desktop\ZaawansowanaObslugaWyjatkowiDebugging\Traceback.py, </a:t>
            </a:r>
            <a:r>
              <a:rPr lang="pl-PL" sz="16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line</a:t>
            </a:r>
            <a:r>
              <a:rPr lang="pl-P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7 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Error2&gt;, 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&lt;</a:t>
            </a:r>
            <a:r>
              <a:rPr lang="pl-PL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FrameSummary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file C:\Users\kerit\Desktop\ZaawansowanaObslugaWyjatkowiDebugging\Traceback.py, </a:t>
            </a:r>
            <a:r>
              <a:rPr lang="pl-PL" sz="16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line</a:t>
            </a:r>
            <a:r>
              <a:rPr lang="pl-P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4 </a:t>
            </a:r>
            <a:r>
              <a:rPr lang="pl-PL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Error1&gt;]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endParaRPr lang="pl-PL" dirty="0">
              <a:solidFill>
                <a:srgbClr val="DAFFDE"/>
              </a:solidFill>
              <a:highlight>
                <a:schemeClr val="dk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br>
              <a:rPr lang="pl-PL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</a:br>
            <a:br>
              <a:rPr lang="pl-PL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</a:b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48C6C67-2AEE-396A-3A59-E1C3C832A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25" y="1398841"/>
            <a:ext cx="3034943" cy="287258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814B350A-0F42-EB77-1257-C117A5CF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933" y="4496744"/>
            <a:ext cx="6322382" cy="2150922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AB523C5A-AB5D-F32C-791A-C11E469C5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86" y="4628446"/>
            <a:ext cx="2867425" cy="1887519"/>
          </a:xfrm>
          <a:prstGeom prst="rect">
            <a:avLst/>
          </a:prstGeom>
        </p:spPr>
      </p:pic>
      <p:sp>
        <p:nvSpPr>
          <p:cNvPr id="11" name="Strzałka: w prawo 10">
            <a:extLst>
              <a:ext uri="{FF2B5EF4-FFF2-40B4-BE49-F238E27FC236}">
                <a16:creationId xmlns:a16="http://schemas.microsoft.com/office/drawing/2014/main" id="{3A896FBA-D052-BED3-6DA3-BBA81B0986EF}"/>
              </a:ext>
            </a:extLst>
          </p:cNvPr>
          <p:cNvSpPr/>
          <p:nvPr/>
        </p:nvSpPr>
        <p:spPr>
          <a:xfrm>
            <a:off x="3682577" y="5437779"/>
            <a:ext cx="1773936" cy="1209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2AE3E06-BE04-C1FD-9F80-80EE8C74D932}"/>
              </a:ext>
            </a:extLst>
          </p:cNvPr>
          <p:cNvSpPr txBox="1"/>
          <p:nvPr/>
        </p:nvSpPr>
        <p:spPr>
          <a:xfrm>
            <a:off x="3534156" y="4484716"/>
            <a:ext cx="20844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traceback.print_stack</a:t>
            </a:r>
            <a:r>
              <a:rPr lang="pl-P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()</a:t>
            </a:r>
            <a:br>
              <a:rPr lang="pl-P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pl-P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pokazuje ścieżkę która program przeszedł. Nie potrzebuje błędu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30240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FFEF53B0-CD8F-34F8-3A73-7673340C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>
            <a:extLst>
              <a:ext uri="{FF2B5EF4-FFF2-40B4-BE49-F238E27FC236}">
                <a16:creationId xmlns:a16="http://schemas.microsoft.com/office/drawing/2014/main" id="{E150C819-7318-1298-5A0C-53C4AB98CBED}"/>
              </a:ext>
            </a:extLst>
          </p:cNvPr>
          <p:cNvSpPr txBox="1"/>
          <p:nvPr/>
        </p:nvSpPr>
        <p:spPr>
          <a:xfrm>
            <a:off x="823825" y="557150"/>
            <a:ext cx="11601600" cy="1181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3000"/>
              </a:spcAft>
              <a:buSzPts val="1100"/>
            </a:pPr>
            <a:r>
              <a:rPr lang="pl-PL" sz="4500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Debugging – </a:t>
            </a:r>
            <a:r>
              <a:rPr lang="pl-PL" sz="450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r>
              <a:rPr lang="pl-PL" sz="45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Debugger</a:t>
            </a:r>
            <a:endParaRPr sz="4500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54347533-3B63-96B1-D359-57DA080AEC0F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6AA4FE8-6508-A6CE-4D75-5BEBA6AD06C4}"/>
              </a:ext>
            </a:extLst>
          </p:cNvPr>
          <p:cNvSpPr txBox="1"/>
          <p:nvPr/>
        </p:nvSpPr>
        <p:spPr>
          <a:xfrm>
            <a:off x="6976871" y="3016889"/>
            <a:ext cx="38794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SzPct val="150000"/>
            </a:pP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Python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oferuje swojego własnego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debuggera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pdb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. Importujemy moduł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pdb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, i w miejscu w którym tego potrzebujemy wstawiamy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pdb.set_trace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() (można też po prostu wpisać </a:t>
            </a:r>
            <a:r>
              <a:rPr lang="pl-PL" sz="15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breakpoint</a:t>
            </a:r>
            <a:r>
              <a:rPr lang="pl-PL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(), uruchamia się to samo narzędzie)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35B753B-8EE8-CDDF-467E-281A32E36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25" y="2613670"/>
            <a:ext cx="5734850" cy="2581635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3C65DA0F-F5F8-7853-4E35-1C65FC2C58EA}"/>
              </a:ext>
            </a:extLst>
          </p:cNvPr>
          <p:cNvSpPr txBox="1"/>
          <p:nvPr/>
        </p:nvSpPr>
        <p:spPr>
          <a:xfrm>
            <a:off x="618744" y="5772863"/>
            <a:ext cx="1095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Można też go aktywować bez wcześniej zadeklarowanych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breakpointów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python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–m </a:t>
            </a:r>
            <a:r>
              <a:rPr lang="pl-PL" sz="1800" dirty="0" err="1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pdb</a:t>
            </a:r>
            <a:r>
              <a:rPr lang="pl-PL" sz="18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file.py </a:t>
            </a: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752442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43449CFB-438E-03D5-950D-6BFB7D32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F799ED2E-DA0E-B463-5F2E-34DF309DF5F8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Google Shape;239;p27">
            <a:extLst>
              <a:ext uri="{FF2B5EF4-FFF2-40B4-BE49-F238E27FC236}">
                <a16:creationId xmlns:a16="http://schemas.microsoft.com/office/drawing/2014/main" id="{B9828660-DB66-AC36-3A2A-E79E9C23B0C8}"/>
              </a:ext>
            </a:extLst>
          </p:cNvPr>
          <p:cNvSpPr txBox="1"/>
          <p:nvPr/>
        </p:nvSpPr>
        <p:spPr>
          <a:xfrm>
            <a:off x="976225" y="25188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" name="Google Shape;239;p27">
            <a:extLst>
              <a:ext uri="{FF2B5EF4-FFF2-40B4-BE49-F238E27FC236}">
                <a16:creationId xmlns:a16="http://schemas.microsoft.com/office/drawing/2014/main" id="{BAA74BEA-0263-BA5E-EB04-11F73DF904FA}"/>
              </a:ext>
            </a:extLst>
          </p:cNvPr>
          <p:cNvSpPr txBox="1"/>
          <p:nvPr/>
        </p:nvSpPr>
        <p:spPr>
          <a:xfrm>
            <a:off x="1128625" y="26712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3635CFB-0008-57C8-54B4-FF6F6C32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44" y="144379"/>
            <a:ext cx="9573961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8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647B5D81-FD68-2DA3-328B-EEF63C3C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28A2C579-AB41-6C50-93F8-FB54372BFDC9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Google Shape;239;p27">
            <a:extLst>
              <a:ext uri="{FF2B5EF4-FFF2-40B4-BE49-F238E27FC236}">
                <a16:creationId xmlns:a16="http://schemas.microsoft.com/office/drawing/2014/main" id="{1B3D7195-A3EA-F1E9-E4D7-FF657C5F4412}"/>
              </a:ext>
            </a:extLst>
          </p:cNvPr>
          <p:cNvSpPr txBox="1"/>
          <p:nvPr/>
        </p:nvSpPr>
        <p:spPr>
          <a:xfrm>
            <a:off x="976225" y="25188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" name="Google Shape;239;p27">
            <a:extLst>
              <a:ext uri="{FF2B5EF4-FFF2-40B4-BE49-F238E27FC236}">
                <a16:creationId xmlns:a16="http://schemas.microsoft.com/office/drawing/2014/main" id="{41D2660D-FEFA-5F57-3955-EB70899E5A16}"/>
              </a:ext>
            </a:extLst>
          </p:cNvPr>
          <p:cNvSpPr txBox="1"/>
          <p:nvPr/>
        </p:nvSpPr>
        <p:spPr>
          <a:xfrm>
            <a:off x="1437025" y="2140200"/>
            <a:ext cx="9350399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Bef>
                <a:spcPts val="2700"/>
              </a:spcBef>
            </a:pPr>
            <a:r>
              <a:rPr lang="pl-PL" sz="6000" dirty="0">
                <a:solidFill>
                  <a:srgbClr val="DEFF9A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Dziękujemy za uwagę</a:t>
            </a:r>
            <a:endParaRPr sz="6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85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>
          <a:extLst>
            <a:ext uri="{FF2B5EF4-FFF2-40B4-BE49-F238E27FC236}">
              <a16:creationId xmlns:a16="http://schemas.microsoft.com/office/drawing/2014/main" id="{DEAB3EEE-DED9-9D76-91A3-4401743F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>
            <a:extLst>
              <a:ext uri="{FF2B5EF4-FFF2-40B4-BE49-F238E27FC236}">
                <a16:creationId xmlns:a16="http://schemas.microsoft.com/office/drawing/2014/main" id="{21190D34-42FA-2ABF-90B1-0B65CD0C057F}"/>
              </a:ext>
            </a:extLst>
          </p:cNvPr>
          <p:cNvSpPr txBox="1"/>
          <p:nvPr/>
        </p:nvSpPr>
        <p:spPr>
          <a:xfrm>
            <a:off x="823825" y="23664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Google Shape;239;p27">
            <a:extLst>
              <a:ext uri="{FF2B5EF4-FFF2-40B4-BE49-F238E27FC236}">
                <a16:creationId xmlns:a16="http://schemas.microsoft.com/office/drawing/2014/main" id="{3DDC3107-7668-D8E1-D226-2E19619C484D}"/>
              </a:ext>
            </a:extLst>
          </p:cNvPr>
          <p:cNvSpPr txBox="1"/>
          <p:nvPr/>
        </p:nvSpPr>
        <p:spPr>
          <a:xfrm>
            <a:off x="976225" y="2518825"/>
            <a:ext cx="4983600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" name="Google Shape;239;p27">
            <a:extLst>
              <a:ext uri="{FF2B5EF4-FFF2-40B4-BE49-F238E27FC236}">
                <a16:creationId xmlns:a16="http://schemas.microsoft.com/office/drawing/2014/main" id="{40DCC42F-5638-A346-9D35-D777CBE629B5}"/>
              </a:ext>
            </a:extLst>
          </p:cNvPr>
          <p:cNvSpPr txBox="1"/>
          <p:nvPr/>
        </p:nvSpPr>
        <p:spPr>
          <a:xfrm>
            <a:off x="102001" y="119376"/>
            <a:ext cx="11474303" cy="2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2700"/>
              </a:spcBef>
            </a:pPr>
            <a:r>
              <a:rPr lang="pl-PL" sz="2000" dirty="0">
                <a:solidFill>
                  <a:srgbClr val="DEFF9A"/>
                </a:solidFill>
                <a:highlight>
                  <a:schemeClr val="dk1"/>
                </a:highlight>
                <a:latin typeface="Urbanist"/>
                <a:ea typeface="Urbanist"/>
                <a:cs typeface="Urbanist"/>
                <a:sym typeface="Urbanist"/>
              </a:rPr>
              <a:t>Bibliografia:</a:t>
            </a: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3"/>
              </a:rPr>
              <a:t>https://docs.python.org/3/tutorial/errors.html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4"/>
              </a:rPr>
              <a:t>https://docs.python.org/3/library/traceback.html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5"/>
              </a:rPr>
              <a:t>https://www.geeksforgeeks.org/python/python-debugger-python-pdb/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6"/>
              </a:rPr>
              <a:t>https://www.geeksforgeeks.org/python/with-statement-in-python/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7"/>
              </a:rPr>
              <a:t>https://docs.python.org/3/library/exceptions.html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8"/>
              </a:rPr>
              <a:t>https://docs.python.org/3/library/contextlib.html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9"/>
              </a:rPr>
              <a:t>https://realpython.com/python-exceptions/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pl-PL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  <a:hlinkClick r:id="rId10"/>
              </a:rPr>
              <a:t>https://www.geeksforgeeks.org/python/exception-groups-in-python/</a:t>
            </a:r>
            <a:endParaRPr lang="pl-PL" sz="2000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571500" lvl="0" indent="-571500">
              <a:spcBef>
                <a:spcPts val="2700"/>
              </a:spcBef>
              <a:buClr>
                <a:schemeClr val="accent6">
                  <a:lumMod val="40000"/>
                  <a:lumOff val="60000"/>
                </a:schemeClr>
              </a:buClr>
              <a:buSzPct val="150000"/>
              <a:buFont typeface="Arial" panose="020B0604020202020204" pitchFamily="34" charset="0"/>
              <a:buChar char="•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26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759</Words>
  <Application>Microsoft Office PowerPoint</Application>
  <PresentationFormat>Panoramiczny</PresentationFormat>
  <Paragraphs>115</Paragraphs>
  <Slides>21</Slides>
  <Notes>21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7" baseType="lpstr">
      <vt:lpstr>Arial</vt:lpstr>
      <vt:lpstr>Courier New</vt:lpstr>
      <vt:lpstr>Calibri</vt:lpstr>
      <vt:lpstr>Urbanist</vt:lpstr>
      <vt:lpstr>Urbanist Medium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Piotr Kurbiel</cp:lastModifiedBy>
  <cp:revision>6</cp:revision>
  <dcterms:modified xsi:type="dcterms:W3CDTF">2026-06-16T21:18:34Z</dcterms:modified>
</cp:coreProperties>
</file>